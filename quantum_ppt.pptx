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0_FCAE096D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1944F-C8FB-6758-FA43-B6195257E007}" name="Aravind B" initials="AB" userId="065dd4f19a193eb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0_FCAE09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BC7373-1E59-4018-B9F1-7BFCBF301F1E}" authorId="{43E1944F-C8FB-6758-FA43-B6195257E007}" created="2025-11-25T08:41:38.556">
    <pc:sldMkLst xmlns:pc="http://schemas.microsoft.com/office/powerpoint/2013/main/command">
      <pc:docMk/>
      <pc:sldMk cId="4239264109" sldId="256"/>
    </pc:sldMkLst>
    <p188:txBody>
      <a:bodyPr/>
      <a:lstStyle/>
      <a:p>
        <a:r>
          <a:rPr lang="en-IN"/>
          <a:t>Save this ppt name with your title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743A3-0E8E-44CE-B84D-E1969009747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2C8A3-5DC5-46B6-9908-494E8B21D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90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4B77-EDFF-4B46-841A-B37159C8FEB0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2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BBF5-0A17-4156-B81F-D8EC5800DEDD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6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4A1E-6159-4F32-94ED-45E9C89C8DE4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2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40041-F9B7-46DB-9FD3-C1B7BAC6F4E5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64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09AB-93CD-4436-A90C-A28B7652D222}" type="datetime1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929E-58B7-4D09-884B-08FD9070A81C}" type="datetime1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893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B96A-25DD-4A5F-BCD0-06CB9A571A07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39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38BA-771A-419A-A827-73B7B1A288C9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3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3889-4CAF-4608-90BB-EB872901E196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4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94F55-B2CA-4D9D-B863-7EB71B689DA8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57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547F-F1E6-4F61-A881-8B5B375437A6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25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E4DEF-52F0-4FBC-8D80-A91C6094B84D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904-452B-4635-ABB0-32369CEA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1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FCAE096D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1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3460173" y="1274618"/>
            <a:ext cx="5049982" cy="59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32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ITLE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37164" y="3585940"/>
            <a:ext cx="6096000" cy="22442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Name: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</a:t>
            </a:r>
            <a:r>
              <a:rPr lang="en-I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V.M.Senthilkumar</a:t>
            </a:r>
            <a:r>
              <a:rPr lang="en-I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Professor,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</a:t>
            </a:r>
            <a:r>
              <a:rPr lang="en-I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Engineering</a:t>
            </a: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74966" y="2170778"/>
            <a:ext cx="7042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Classification of Light Pollution Impact on Firefly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Populations using QSVM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64109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642" y="463286"/>
            <a:ext cx="7481888" cy="480002"/>
          </a:xfrm>
        </p:spPr>
        <p:txBody>
          <a:bodyPr>
            <a:noAutofit/>
          </a:bodyPr>
          <a:lstStyle/>
          <a:p>
            <a:r>
              <a:rPr lang="en-US" sz="3200" i="1" u="sng" dirty="0">
                <a:latin typeface="+mn-lt"/>
                <a:cs typeface="Times New Roman" panose="02020603050405020304" pitchFamily="18" charset="0"/>
              </a:rPr>
              <a:t>Reason for Innovation (Problem Statement)</a:t>
            </a:r>
            <a:endParaRPr lang="en-IN" sz="3200" i="1" u="sng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676" y="1654612"/>
            <a:ext cx="11766901" cy="564370"/>
          </a:xfrm>
        </p:spPr>
        <p:txBody>
          <a:bodyPr>
            <a:noAutofit/>
          </a:bodyPr>
          <a:lstStyle/>
          <a:p>
            <a:r>
              <a:rPr lang="en-US" sz="1800" dirty="0"/>
              <a:t>Firefly populations are declining globally due to light pollution and habitat loss, but we lack accurate tools to assess which regions need urgent conservation action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60625" y="6391343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75006" y="6492875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87790" y="2598976"/>
            <a:ext cx="27060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Who faces the problem?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Conservation organizations struggling to prioritize limited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Urban planners needing data-driven decisions about artificial lighting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Ecologists monitoring biodiversity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Firefly populations themselves (over 2,000 species at risk)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197" y="2598976"/>
            <a:ext cx="266520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How serious/widespread is it?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Global issue affecting 6+ continents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991 documented locations show varying impact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Light pollution affects 80% of global population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Firefly decline threatens ecosystem balance (pollination, pest control, food chain)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15481" y="2500368"/>
            <a:ext cx="255616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How does our solution provide resolution?</a:t>
            </a:r>
            <a:r>
              <a:rPr lang="en-US" sz="1600" dirty="0"/>
              <a:t>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Our </a:t>
            </a:r>
            <a:r>
              <a:rPr lang="en-US" sz="1600" dirty="0"/>
              <a:t>quantum machine learning model achieves 94.39% accuracy in classifying light pollution impact, outperforming classical methods by analyzing complex environmental interdependencies through quantum feature mapping.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3024" y="2500368"/>
            <a:ext cx="2721428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Existing solutions - Are they insufficient?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field surveys: slow, expensive, limited geographic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Classical ML models: 92-93% accuracy, struggle with complex ecological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Static environmental assessments: don't capture feature interdependencies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Gap: Need for scalable, accurate, automated classification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1442" y="2385844"/>
            <a:ext cx="2877941" cy="393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5070" y="2385844"/>
            <a:ext cx="2791507" cy="393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8650" y="2385845"/>
            <a:ext cx="2706028" cy="393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156580" y="2385846"/>
            <a:ext cx="2775826" cy="393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6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1664" y="542987"/>
            <a:ext cx="6670303" cy="391266"/>
          </a:xfrm>
        </p:spPr>
        <p:txBody>
          <a:bodyPr>
            <a:normAutofit fontScale="90000"/>
          </a:bodyPr>
          <a:lstStyle/>
          <a:p>
            <a:r>
              <a:rPr lang="en-IN" sz="3600" i="1" u="sng" dirty="0">
                <a:latin typeface="+mn-lt"/>
                <a:cs typeface="Times New Roman" panose="02020603050405020304" pitchFamily="18" charset="0"/>
              </a:rPr>
              <a:t>Concept of the Idea (Product/Service):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559214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3</a:t>
            </a:fld>
            <a:endParaRPr lang="en-IN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3604" y="6605211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453759" y="1274618"/>
            <a:ext cx="255066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is our solution different?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Uses quantum kernel methods to map environmental features into high-dimensional space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Captures non-linear interactions between urbanization, light, population, and habitat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Integrates real satellite data (NOAA nighttime lights, </a:t>
            </a:r>
            <a:r>
              <a:rPr lang="en-US" altLang="en-US" dirty="0" err="1"/>
              <a:t>WorldPop</a:t>
            </a:r>
            <a:r>
              <a:rPr lang="en-US" altLang="en-US" dirty="0"/>
              <a:t>, ESA land cover)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Works globally across diverse regions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5370" y="1274618"/>
            <a:ext cx="266403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is our solution better than alternatives?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+1.53% higher accuracy than classical SVM (94.39% vs 92.86%)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with limited data: Quantum methods excel in low-data regimes (150 samples)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Captures complexity: Quantum kernels handle feature interactions classical methods miss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Future-proof: Performance improves as quantum hardware advances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6911" y="1274618"/>
            <a:ext cx="20108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Does the user need skilled experts to implement?</a:t>
            </a: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No programming required - simple 4-value input interface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Automated cloud-based quantum analysis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Clear Low/Medium/High impact classification with confidence scores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0035" y="1274618"/>
            <a:ext cx="26521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will it address user needs?</a:t>
            </a: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Conservationists: Identify priority protection regions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Urban planners: Predict lighting impact before installation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Policy makers: Evidence-based environmental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Researchers</a:t>
            </a:r>
            <a:r>
              <a:rPr lang="en-US" dirty="0"/>
              <a:t>: Scalable tool for biodiversity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240" y="1274619"/>
            <a:ext cx="270602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02175" y="1274618"/>
            <a:ext cx="270602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105959" y="1274618"/>
            <a:ext cx="270602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13373" y="1274618"/>
            <a:ext cx="270602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973" y="419129"/>
            <a:ext cx="4966854" cy="452619"/>
          </a:xfrm>
        </p:spPr>
        <p:txBody>
          <a:bodyPr>
            <a:normAutofit fontScale="90000"/>
          </a:bodyPr>
          <a:lstStyle/>
          <a:p>
            <a:r>
              <a:rPr lang="en-IN" sz="3600" i="1" u="sng" dirty="0">
                <a:latin typeface="+mn-lt"/>
                <a:cs typeface="Times New Roman" panose="02020603050405020304" pitchFamily="18" charset="0"/>
              </a:rPr>
              <a:t>Description</a:t>
            </a:r>
            <a:endParaRPr lang="en-IN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42307" y="1527382"/>
            <a:ext cx="49678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does our solution work?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Input:</a:t>
            </a:r>
            <a:r>
              <a:rPr lang="en-US" dirty="0"/>
              <a:t> Four environmental features from any location 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Light intensity (satellite-measured radiance)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Urbanization level (land cover classification)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Population density (</a:t>
            </a:r>
            <a:r>
              <a:rPr lang="en-US" dirty="0" err="1"/>
              <a:t>WorldPop</a:t>
            </a:r>
            <a:r>
              <a:rPr lang="en-US" dirty="0"/>
              <a:t> data)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Habitat quality (forest/wetland coverage)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Quantum Processing:</a:t>
            </a:r>
            <a:r>
              <a:rPr lang="en-US" dirty="0"/>
              <a:t> QSVM with </a:t>
            </a:r>
            <a:r>
              <a:rPr lang="en-US" dirty="0" err="1"/>
              <a:t>ZZFeatureMap</a:t>
            </a:r>
            <a:r>
              <a:rPr lang="en-US" dirty="0"/>
              <a:t> transforms data into quantum state 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Classification:</a:t>
            </a:r>
            <a:r>
              <a:rPr lang="en-US" dirty="0"/>
              <a:t> Predicts Low/Medium/High impact on firefly populations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Output:</a:t>
            </a:r>
            <a:r>
              <a:rPr lang="en-US" dirty="0"/>
              <a:t> Conservation priority recommendation with 94% </a:t>
            </a:r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884223" y="1527381"/>
            <a:ext cx="47773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satellite integration:</a:t>
            </a:r>
            <a:r>
              <a:rPr lang="en-US" dirty="0"/>
              <a:t> Automatic data retrieval from NOAA, ESA, </a:t>
            </a:r>
            <a:r>
              <a:rPr lang="en-US" dirty="0" err="1" smtClean="0"/>
              <a:t>WorldPop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Quantum kernel optimization:</a:t>
            </a:r>
            <a:r>
              <a:rPr lang="en-US" dirty="0"/>
              <a:t> 150-sample training achieves 94.39% test </a:t>
            </a:r>
            <a:r>
              <a:rPr lang="en-US" dirty="0" smtClean="0"/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Global coverage:</a:t>
            </a:r>
            <a:r>
              <a:rPr lang="en-US" dirty="0"/>
              <a:t> Validated across 991 locations on 6 </a:t>
            </a:r>
            <a:r>
              <a:rPr lang="en-US" dirty="0" smtClean="0"/>
              <a:t>continents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Interpretable results:</a:t>
            </a:r>
            <a:r>
              <a:rPr lang="en-US" dirty="0"/>
              <a:t> Clear impact categories with probability </a:t>
            </a:r>
            <a:r>
              <a:rPr lang="en-US" dirty="0" smtClean="0"/>
              <a:t>distributions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Scalable architecture:</a:t>
            </a:r>
            <a:r>
              <a:rPr lang="en-US" dirty="0"/>
              <a:t> Can expand to other endangered species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201" y="1385048"/>
            <a:ext cx="5349772" cy="4892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29480" y="1385048"/>
            <a:ext cx="5349772" cy="4892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6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8813" y="512310"/>
            <a:ext cx="4966854" cy="452619"/>
          </a:xfrm>
        </p:spPr>
        <p:txBody>
          <a:bodyPr>
            <a:normAutofit fontScale="90000"/>
          </a:bodyPr>
          <a:lstStyle/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8904-452B-4635-ABB0-32369CEA5F47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175997" y="1738725"/>
            <a:ext cx="39228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Benefits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Saves time:</a:t>
            </a:r>
            <a:r>
              <a:rPr lang="en-US" dirty="0"/>
              <a:t> Instant analysis vs. months of field surveys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Reduces cost:</a:t>
            </a:r>
            <a:r>
              <a:rPr lang="en-US" dirty="0"/>
              <a:t> No need for expensive on-site assessments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Improves accuracy:</a:t>
            </a:r>
            <a:r>
              <a:rPr lang="en-US" dirty="0"/>
              <a:t> 94% vs. 92% classical (fewer wrong conservation decisions)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Makes things easier:</a:t>
            </a:r>
            <a:r>
              <a:rPr lang="en-US" dirty="0"/>
              <a:t> Simple interface, complex quantum backend hidden from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Enables prevention:</a:t>
            </a:r>
            <a:r>
              <a:rPr lang="en-US" dirty="0"/>
              <a:t> Predict impact before habitat damage </a:t>
            </a:r>
            <a:r>
              <a:rPr lang="en-US" dirty="0" smtClean="0"/>
              <a:t>occurs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079673" y="1738725"/>
            <a:ext cx="38753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Applications &amp; Differentiation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Unique approach:</a:t>
            </a:r>
            <a:r>
              <a:rPr lang="en-US" dirty="0"/>
              <a:t> First quantum ML application for firefly conservation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Patent-pending:</a:t>
            </a:r>
            <a:r>
              <a:rPr lang="en-US" dirty="0"/>
              <a:t> Novel quantum circuit with ecological entanglement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Multi-species potential:</a:t>
            </a:r>
            <a:r>
              <a:rPr lang="en-US" dirty="0"/>
              <a:t> Architecture adaptable to bees, butterflies, bats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Policy tool:</a:t>
            </a:r>
            <a:r>
              <a:rPr lang="en-US" dirty="0"/>
              <a:t> Provides evidence for light pollution regulations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Competitive edge:</a:t>
            </a:r>
            <a:r>
              <a:rPr lang="en-US" dirty="0"/>
              <a:t> Quantum advantage demonstrated with real-world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121" y="1586077"/>
            <a:ext cx="4940568" cy="45526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47046" y="1586077"/>
            <a:ext cx="4940568" cy="45526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7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388340"/>
            <a:ext cx="7661997" cy="469033"/>
          </a:xfrm>
        </p:spPr>
        <p:txBody>
          <a:bodyPr>
            <a:noAutofit/>
          </a:bodyPr>
          <a:lstStyle/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Design and Development of Product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4063" y="6356349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538911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27" y="1280800"/>
            <a:ext cx="7040522" cy="52581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9676" y="1272515"/>
            <a:ext cx="186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86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562" y="1599768"/>
            <a:ext cx="3522952" cy="469033"/>
          </a:xfrm>
        </p:spPr>
        <p:txBody>
          <a:bodyPr>
            <a:noAutofit/>
          </a:bodyPr>
          <a:lstStyle/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Market Opportunity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4063" y="6356349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49576" y="2567105"/>
            <a:ext cx="46209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Market Size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Conservation tech market:</a:t>
            </a:r>
            <a:r>
              <a:rPr lang="en-US" dirty="0"/>
              <a:t> $12.5B globally (2024), growing 8.2% annually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Biodiversity monitoring sector:</a:t>
            </a:r>
            <a:r>
              <a:rPr lang="en-US" dirty="0"/>
              <a:t> $3.2B addressable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Urban planning tools:</a:t>
            </a:r>
            <a:r>
              <a:rPr lang="en-US" dirty="0"/>
              <a:t> $45B smart city technology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Environmental consulting:</a:t>
            </a:r>
            <a:r>
              <a:rPr lang="en-US" dirty="0"/>
              <a:t> $38B industry needing data-driven </a:t>
            </a:r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852587" y="1599768"/>
            <a:ext cx="3522952" cy="469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Target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6475" y="2567105"/>
            <a:ext cx="460627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Primary Users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Conservation Organizations</a:t>
            </a:r>
            <a:r>
              <a:rPr lang="en-US" dirty="0"/>
              <a:t> (WWF, Nature Conservancy, </a:t>
            </a:r>
            <a:r>
              <a:rPr lang="en-US" dirty="0" smtClean="0"/>
              <a:t>NGOs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Government </a:t>
            </a:r>
            <a:r>
              <a:rPr lang="en-US" b="1" dirty="0"/>
              <a:t>Environmental Agencies</a:t>
            </a:r>
            <a:r>
              <a:rPr lang="en-US" dirty="0"/>
              <a:t> (EPA, state/provincial </a:t>
            </a:r>
            <a:r>
              <a:rPr lang="en-US" dirty="0" smtClean="0"/>
              <a:t>depts.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Urban </a:t>
            </a:r>
            <a:r>
              <a:rPr lang="en-US" b="1" dirty="0"/>
              <a:t>Planning Departments</a:t>
            </a:r>
            <a:r>
              <a:rPr lang="en-US" dirty="0"/>
              <a:t> - 500+ cities implementing smart lighting, need impact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Research Institutions</a:t>
            </a:r>
            <a:r>
              <a:rPr lang="en-US" dirty="0"/>
              <a:t> - Universities and ecological labs studying biodiversity </a:t>
            </a:r>
            <a:r>
              <a:rPr lang="en-US" dirty="0" smtClean="0"/>
              <a:t>loss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89754" y="2305386"/>
            <a:ext cx="4940568" cy="3549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99329" y="2305385"/>
            <a:ext cx="4940568" cy="3549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3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5570" y="504103"/>
            <a:ext cx="4386551" cy="469033"/>
          </a:xfrm>
        </p:spPr>
        <p:txBody>
          <a:bodyPr>
            <a:noAutofit/>
          </a:bodyPr>
          <a:lstStyle/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Competitive Advantages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4063" y="6356349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22134" y="2107094"/>
            <a:ext cx="954773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Quantum advantage:</a:t>
            </a:r>
            <a:r>
              <a:rPr lang="en-US" dirty="0"/>
              <a:t> Only conservation tool using quantum ML - 94.39% accuracy vs. 92-93%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satellite integration:</a:t>
            </a:r>
            <a:r>
              <a:rPr lang="en-US" dirty="0"/>
              <a:t> Real-time data from NOAA, ESA, </a:t>
            </a:r>
            <a:r>
              <a:rPr lang="en-US" dirty="0" err="1"/>
              <a:t>WorldPop</a:t>
            </a:r>
            <a:r>
              <a:rPr lang="en-US" dirty="0"/>
              <a:t> (competitors use manual collection)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Global validation:</a:t>
            </a:r>
            <a:r>
              <a:rPr lang="en-US" dirty="0"/>
              <a:t> Tested on 991 locations across 6 continents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Cloud-based scalability:</a:t>
            </a:r>
            <a:r>
              <a:rPr lang="en-US" dirty="0"/>
              <a:t> Analyze thousands of locations simultaneously, no hardware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Multi-species adaptable:</a:t>
            </a:r>
            <a:r>
              <a:rPr lang="en-US" dirty="0"/>
              <a:t> Expandable to other endangered </a:t>
            </a:r>
            <a:r>
              <a:rPr lang="en-US" dirty="0" smtClean="0"/>
              <a:t>species</a:t>
            </a:r>
          </a:p>
          <a:p>
            <a:endParaRPr lang="en-US" dirty="0"/>
          </a:p>
          <a:p>
            <a:r>
              <a:rPr lang="en-US" b="1" dirty="0"/>
              <a:t>How It Makes Things Easier: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field visits - remote sensing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Instant results (minutes vs. months)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interface: Input coordinates, get impact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recommendations: Protect/monitor/safe</a:t>
            </a:r>
          </a:p>
        </p:txBody>
      </p:sp>
    </p:spTree>
    <p:extLst>
      <p:ext uri="{BB962C8B-B14F-4D97-AF65-F5344CB8AC3E}">
        <p14:creationId xmlns:p14="http://schemas.microsoft.com/office/powerpoint/2010/main" val="386273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4660" y="504103"/>
            <a:ext cx="4386551" cy="469033"/>
          </a:xfrm>
        </p:spPr>
        <p:txBody>
          <a:bodyPr>
            <a:noAutofit/>
          </a:bodyPr>
          <a:lstStyle/>
          <a:p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Future</a:t>
            </a:r>
            <a:r>
              <a:rPr lang="en-IN" dirty="0"/>
              <a:t> </a:t>
            </a:r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Growth</a:t>
            </a:r>
            <a:r>
              <a:rPr lang="en-IN" dirty="0"/>
              <a:t> </a:t>
            </a:r>
            <a:r>
              <a:rPr lang="en-IN" sz="3200" i="1" u="sng" dirty="0">
                <a:latin typeface="+mn-lt"/>
                <a:cs typeface="Times New Roman" panose="02020603050405020304" pitchFamily="18" charset="0"/>
              </a:rPr>
              <a:t>Potential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4063" y="6356349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27364" y="1555035"/>
            <a:ext cx="5486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Near-Term (1-2 years):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Mobile app for field conservationists with offline mode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Real-time monitoring dashboard with environmental alerts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Multi-species expansion (bees, bats, butterflies)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Deploy on actual IBM quantum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Mid-Term (3-5 years):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Predictive modeling: Forecast population changes 5-10 years ahead with climate change integration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Advanced 8-12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qubit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quantum circuits for richer analysis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Integration with global biodiversity platforms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iNaturalist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eBird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Automated policy reports and light pollution zoning recommendations </a:t>
            </a:r>
          </a:p>
        </p:txBody>
      </p:sp>
      <p:sp>
        <p:nvSpPr>
          <p:cNvPr id="7" name="Rectangle 6"/>
          <p:cNvSpPr/>
          <p:nvPr/>
        </p:nvSpPr>
        <p:spPr>
          <a:xfrm>
            <a:off x="6714506" y="1555035"/>
            <a:ext cx="46828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Long-Term (5-10+ years):</a:t>
            </a: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Foundation for quantum computational ecology field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UN SDG 15 monitoring tool (partnership with UNEP, IUCN)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Scale to 98-99% accuracy with mature quantum hardware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Expand to agriculture, marine conservation, urban design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Required Alterations:</a:t>
            </a: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Dataset expansion (weather, soil, pollutants)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No-code platform for non-technical users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Scale infrastructure for 10K+ simultaneous analyses 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380" y="1555034"/>
            <a:ext cx="5688384" cy="4801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15802" y="1555033"/>
            <a:ext cx="5150818" cy="4801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0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4063" y="6356349"/>
            <a:ext cx="2743200" cy="365125"/>
          </a:xfrm>
        </p:spPr>
        <p:txBody>
          <a:bodyPr/>
          <a:lstStyle/>
          <a:p>
            <a:fld id="{BD5B8904-452B-4635-ABB0-32369CEA5F47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6" y="202622"/>
            <a:ext cx="2605088" cy="10719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RAJALAKSHMI INSTITUTE OF TECHNOLOGY, CHENNAI</a:t>
            </a:r>
            <a:endParaRPr lang="en-IN" dirty="0"/>
          </a:p>
        </p:txBody>
      </p:sp>
      <p:pic>
        <p:nvPicPr>
          <p:cNvPr id="1026" name="Picture 2" descr="https://tse4.mm.bing.net/th/id/OIP.CdCtJ49L39lo4WWvqLAfRAHaHa?pid=Api&amp;P=0&amp;h=1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36775"/>
            <a:ext cx="2273300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47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1051</Words>
  <Application>Microsoft Office PowerPoint</Application>
  <PresentationFormat>Widescreen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Reason for Innovation (Problem Statement)</vt:lpstr>
      <vt:lpstr>Concept of the Idea (Product/Service):  </vt:lpstr>
      <vt:lpstr>Description</vt:lpstr>
      <vt:lpstr>Description</vt:lpstr>
      <vt:lpstr>Design and Development of Product</vt:lpstr>
      <vt:lpstr>Market Opportunity</vt:lpstr>
      <vt:lpstr>Competitive Advantages</vt:lpstr>
      <vt:lpstr>Future Growth Potential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BAHURUTEEN</dc:creator>
  <cp:lastModifiedBy>MRT www.Win2Farsi.com</cp:lastModifiedBy>
  <cp:revision>35</cp:revision>
  <dcterms:created xsi:type="dcterms:W3CDTF">2025-11-25T06:43:30Z</dcterms:created>
  <dcterms:modified xsi:type="dcterms:W3CDTF">2025-12-02T07:19:57Z</dcterms:modified>
</cp:coreProperties>
</file>